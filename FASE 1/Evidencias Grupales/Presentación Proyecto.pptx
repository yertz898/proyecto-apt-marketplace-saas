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— Presentación inicial (10 s).
Pedro abre: "Buenas tardes, somos Pedro Santibáñez y Daniel Azócar. Presentamos DealCommerce, un marketplace SaaS multi-tienda con analítica predictiva, desarrollado con un cliente real: Joyas_ye, un emprendimiento de joyería."
No leer la lámina. Pasar rápido a la definición.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(60 s).
La idea central: NO es una tienda online para un comercio, es una plataforma multi-tienda. Cada vendedor que se suscribe tiene su propio espacio y sus datos quedan aislados de los demás.
Recalcar el punto 1: el motor de precios es lo que lo diferencia de un e-commerce común — resuelve venta al detalle y al por mayor con un solo catálogo, que es exactamente el problema de Joyas_ye.
Mencionar que los cuatro módulos comparten el mismo modelo de datos: por eso el 3 y el 4 son baratos de construir una vez hecho el 1 y el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(75 s).
Contar la situación concreta, no en abstracto: hoy una clienta mayorista escribe por Instagram, la dueña revisa stock de memoria o mirando la vitrina, calcula el precio por mayor a mano y anota el pedido en un cuaderno.
El punto fuerte de la lámina es el recuadro de la derecha: el problema de fondo no es la falta de ventas, es la falta de información. Sin historial no hay decisión de reposición posible.
Cerrar conectando: "y esto no es un caso aislado — por eso la arquitectura la pensamos multi-tienda desde el principio".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(35 s).
Leer el objetivo general pausado — es la única lámina donde leer textual está permitido, porque es la definición formal del proyecto.
Destacar dos palabras: "multi-tienda" (la arquitectura) y "validada con Joyas_ye" (el cliente real, que es nuestra mayor fortaleza frente a un proyecto simulado).
No detallar los ocho específicos acá, vienen en la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(60 s).
No leer los ocho uno por uno — agruparlos: "los tres primeros son datos y requerimientos, los tres del medio son la construcción, los dos últimos son validación e implantación".
Si hay que destacar uno, el 5: el pronóstico se evalúa con MAPE, MAE y RMSE contra una línea base de promedio móvil. Es la diferencia entre decir que el modelo funciona y demostrarlo.
Mencionar que cada objetivo está mapeado a una competencia del perfil de egreso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(60 s).
Recorrer la arquitectura de arriba abajo en tres frases, sin entrar en detalle de librerías.
El punto clave: los servicios analíticos de la derecha NO son un sistema aparte — se alimentan del mismo PostgreSQL. Por eso el pronóstico y el chatbot son viables para un equipo de dos personas.
Si preguntan por el stack: lo elegimos porque ya lo dominamos, y así el tiempo se invierte en lo que sí es nuevo (el ML y el asistente), no en aprender frameworks.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(65 s).
Esta lámina hay que presentarla con seguridad, no como una disculpa. Recortar el alcance es una decisión de gestión, no una limitación que sufrimos.
Frase útil: "preferimos entregar siete módulos funcionando que diez a medias".
Si preguntan por qué no hay pagos: la integración con Transbank tiene un proceso de certificación que consume semanas y no aporta a ninguna competencia del perfil que no estemos ya cubriendo.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(60 s).
Este es el punto que hay que dejar claro, porque es donde el docente puede objetar.
Explicar la diferencia de capas: Scrum responde cuándo y quién; CRISP-DM responde qué pasos sigue el trabajo de datos. No compiten.
El argumento decisivo es el recuadro inferior: no son dos planificaciones separadas — es un solo backlog. Sin CRISP-DM haríamos igual esas etapas, pero sin nombrarlas ni evaluarlas con métricas.
Si el docente prefiere solo Scrum, decir que se adapta sin cambiar el plan de trabajo ni el Gantt.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DANIEL (55 s).
No recorrer las nueve barras. Explicar la lógica: Fase 1 es definición, Fase 2 es todo el desarrollo, Fase 3 es cierre y defensa.
Destacar dos cosas: (1) las superposiciones son deliberadas — reflejan que Pedro va en frontend mientras yo voy en el modelo de datos y el ML; (2) las pruebas empiezan en la semana 13 y corren en paralelo, no al final.
Si preguntan por el reparto: Pedro frontend y seguridad, yo ML y modelo de datos, backend compartido con revisión cruzada.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PEDRO (50 s).
Cerrar con los cuatro argumentos, sin leerlos textual.
El más fuerte es el 1: tener cliente real nos diferencia de un proyecto hipotético, y la rúbrica lo valora explícitamente.
El 4 conviene mencionarlo porque anticipa la pregunta obvia: "¿cómo saben que el modelo va a servir?" — respuesta: lo comparamos contra un promedio móvil, y si no lo supera, no se integra.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 (10 s).
Cerrar y abrir preguntas.
Preguntas probables y quién responde:
— "¿Por qué no usan solo Scrum?" → Pedro (lámina 8).
— "¿Qué pasa si no hay datos suficientes para el modelo?" → Daniel: módulo de ingesta desde Excel, datos sintéticos y línea base de promedio móvil.
— "¿Es realista para dos personas?" → Pedro: por eso el checkout es simulado y hay tres funcionalidades declaradas como trabajo futuro.
— "¿El cliente se comprometió?" → Daniel: sí, valida al cierre de cada sprint y firmará el acta de usabilidad.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3200400"/>
            <a:ext cx="2377440" cy="237744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FASE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DealCommerce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SaaS multi-tienda con analítica predictiva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PYMES del retail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4572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474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Santibáñez Black   ·   Daniel Azócar Pizarro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PTY4614 Capstone   ·   Ingeniería en Informática   ·   Duoc UC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piloto: Joyas_ye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DealCommerce?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aloja a múltiples comercios sobre una misma infraestructura, manteniendo los datos de cada vendedor aislados de los demás. Cuatro módulos sobre un mismo modelo de datos.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55648"/>
            <a:ext cx="329184" cy="32918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773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139696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variantes, carrito y pedidos. Motor de precios que aplica tarifas escalonadas: detalle y por mayor en un solo catálogo.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72768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755648"/>
            <a:ext cx="329184" cy="32918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4608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85232" y="17739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 de datos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2139696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los registros de venta previos del comercio desde planillas de cálculo y los normaliza en la base de datos.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3328416"/>
            <a:ext cx="329184" cy="32918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3467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Analítica y predicción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712464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ventas por vendedor y modelo de pronóstico de demanda que anticipa quiebres de stock y sobrecompras.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45536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3328416"/>
            <a:ext cx="329184" cy="32918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64608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33467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conversacional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3712464"/>
            <a:ext cx="3639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consulta sus indicadores en lenguaje natural, sin interpretar tableros ni construir informes.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PROBLEMÁTICA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opera hoy Joyas_ye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 de joyería con tienda física y canal en redes sociales, que vende al detalle y al por mayor.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" name="Shape 4"/>
          <p:cNvSpPr/>
          <p:nvPr/>
        </p:nvSpPr>
        <p:spPr>
          <a:xfrm>
            <a:off x="608076" y="1586484"/>
            <a:ext cx="6400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463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canal propio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739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 se cierra por mensajería directa en redes sociales. No hay catálogo ni carrito.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68296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8076" y="2427732"/>
            <a:ext cx="6400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manual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151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pedidos se anotan en planillas y cuadernos. No hay trazabilidad de qué se vendió ni a quién.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09544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076" y="3268980"/>
            <a:ext cx="6400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3145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Precios aplicados a mano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456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tarifa mayorista se calcula manualmente en cada pedido, con riesgo permanente de error.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050792"/>
            <a:ext cx="274320" cy="2743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" y="4110228"/>
            <a:ext cx="64008" cy="1554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0120" y="3986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Reposición por intuición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297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historial consolidado, se compra de más lo que no rota y se quiebra el stock de lo que sí.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06440" y="1444752"/>
            <a:ext cx="2880360" cy="3035808"/>
          </a:xfrm>
          <a:prstGeom prst="roundRect">
            <a:avLst>
              <a:gd name="adj" fmla="val 190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16916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vender más.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2377440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no saber qué se vende.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035040" y="3182112"/>
            <a:ext cx="365760" cy="228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35040" y="34015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escenario de la mayoría de las PYMES del retail en Chile. Joyas_ye es nuestro caso piloto, no la excepción.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08960"/>
            <a:ext cx="3108960" cy="3108960"/>
          </a:xfrm>
          <a:prstGeom prst="ellipse">
            <a:avLst/>
          </a:prstGeom>
          <a:solidFill>
            <a:srgbClr val="43182B"/>
          </a:solidFill>
          <a:ln w="12700">
            <a:solidFill>
              <a:srgbClr val="4318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OBJETIVOS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plataforma marketplace SaaS multi-tienda que integre gestión de catálogo con precios diferenciados, analítica de ventas, un modelo de pronóstico de demanda y un asistente conversacional, validada con Joyas_ye como cliente piloto.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310128"/>
            <a:ext cx="457200" cy="2743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objetivos específicos se desprenden de este, cubriendo las cuatro competencias del perfil de egreso.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OBJETIVOS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023360" cy="749808"/>
          </a:xfrm>
          <a:prstGeom prst="roundRect">
            <a:avLst>
              <a:gd name="adj" fmla="val 7317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347472" cy="3474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y especificar los requerimientos con el cliente.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023360" cy="749808"/>
          </a:xfrm>
          <a:prstGeom prst="roundRect">
            <a:avLst>
              <a:gd name="adj" fmla="val 7317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347472" cy="3474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el modelo de datos multi-tienda.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4023360" cy="749808"/>
          </a:xfrm>
          <a:prstGeom prst="roundRect">
            <a:avLst>
              <a:gd name="adj" fmla="val 7317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267712"/>
            <a:ext cx="347472" cy="3474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21762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módulo de ingesta de datos históricos.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2066544"/>
            <a:ext cx="4023360" cy="749808"/>
          </a:xfrm>
          <a:prstGeom prst="roundRect">
            <a:avLst>
              <a:gd name="adj" fmla="val 7317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67712"/>
            <a:ext cx="347472" cy="34747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21762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catálogo, pedidos y panel de analítica.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962656"/>
            <a:ext cx="4023360" cy="749808"/>
          </a:xfrm>
          <a:prstGeom prst="roundRect">
            <a:avLst>
              <a:gd name="adj" fmla="val 7317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163824"/>
            <a:ext cx="347472" cy="3474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30723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pronóstico de demanda con CRISP-DM.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962656"/>
            <a:ext cx="4023360" cy="749808"/>
          </a:xfrm>
          <a:prstGeom prst="roundRect">
            <a:avLst>
              <a:gd name="adj" fmla="val 7317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163824"/>
            <a:ext cx="347472" cy="3474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30723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asistente conversacional del vendedor.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858768"/>
            <a:ext cx="4023360" cy="749808"/>
          </a:xfrm>
          <a:prstGeom prst="roundRect">
            <a:avLst>
              <a:gd name="adj" fmla="val 7317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059936"/>
            <a:ext cx="347472" cy="3474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39684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pruebas unitarias, de integración y de acceso.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3858768"/>
            <a:ext cx="4023360" cy="749808"/>
          </a:xfrm>
          <a:prstGeom prst="roundRect">
            <a:avLst>
              <a:gd name="adj" fmla="val 7317"/>
            </a:avLst>
          </a:prstGeom>
          <a:solidFill>
            <a:srgbClr val="FBF7F5"/>
          </a:solidFill>
          <a:ln w="12700">
            <a:solidFill>
              <a:srgbClr val="FB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4059936"/>
            <a:ext cx="347472" cy="347472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4632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321808" y="39684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la solución con Docker para uso real del cliente.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ALCANCES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la solución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7043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1704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React · Tailwind · shadcn/ui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9339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99339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9933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· autenticación por 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16352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81635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8163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multi-tienda · Cloudflare R2 (imágenes)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90088" y="1856232"/>
            <a:ext cx="27432" cy="12801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7" name="Shape 15"/>
          <p:cNvSpPr/>
          <p:nvPr/>
        </p:nvSpPr>
        <p:spPr>
          <a:xfrm>
            <a:off x="2990088" y="2679192"/>
            <a:ext cx="27432" cy="128016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1170432"/>
            <a:ext cx="2834640" cy="2304288"/>
          </a:xfrm>
          <a:prstGeom prst="roundRect">
            <a:avLst>
              <a:gd name="adj" fmla="val 238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analíticos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171907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Excel → PostgreSQL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 demanda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D4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modelo de lenguaje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96128" y="2286000"/>
            <a:ext cx="219456" cy="27432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73075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BF7F5"/>
          </a:solidFill>
          <a:ln w="12700">
            <a:solidFill>
              <a:srgbClr val="E3D3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3075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entorno orquestado con Docker y docker-compose. 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la solución sea reproducible por un tercero y simplifica la implantación final.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ALCANCES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entra y qué no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se acotó de forma deliberada a la capacidad real de un equipo de dos personas en un semestre.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Comprometido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9339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multi-tienda con catálogo y variantes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precios detalle y por mayor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pedidos con checkout simulado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de historial desde planillas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analítica por vendedor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 demanda mensual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 del vendedor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FBF7F5"/>
          </a:solidFill>
          <a:ln w="12700">
            <a:solidFill>
              <a:srgbClr val="E3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9472" y="1600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6E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alcance · trabajo futuro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19472" y="2057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real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23042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se coordina fuera del sistema. Evita el proceso de certificación con Transbank.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28437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visual por imagen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19472" y="30906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un catálogo fotográfico extenso que el cliente aún no tiene.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919472" y="36301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descuentos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38770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Sería un tercer componente de ML. No asumible con dos personas.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HITOS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tiene dos naturalezas distintas y cada una necesita su marco.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13232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adaptado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751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 para el desarrollo del producto. El cliente valida el incremento al cierre de cada sprint. Roles compartidos: con dos personas, aplicar Scrum canónico sería un formalismo.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7F1EC"/>
          </a:solidFill>
          <a:ln w="12700">
            <a:solidFill>
              <a:srgbClr val="F7F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919472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CRISP-DM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19472" y="19751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fases para el módulo de Machine Learning: negocio, datos, preparación, modelado, evaluación y despliegue. El trabajo analítico no siempre entrega un incremento visible.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8229600" cy="1207008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4015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corren en paralelo: CRISP-DM se integra dentro de Scrum.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730752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de CRISP-DM se convierte en historias del mismo backlog, con el mismo tablero y la misma cadencia de sprints. CRISP-DM aporta el contenido y el orden de las historias analíticas; Scrum aporta la cadencia y el control. Un solo plan, un solo ritmo.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HITOS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de desarrollo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sprints de dos semanas sobre las 18 semanas del período académico.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1371600"/>
            <a:ext cx="1290320" cy="23774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880360" y="1371600"/>
            <a:ext cx="129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70680" y="1371600"/>
            <a:ext cx="3870960" cy="23774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70680" y="1371600"/>
            <a:ext cx="387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1640" y="1371600"/>
            <a:ext cx="645160" cy="237744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1640" y="1371600"/>
            <a:ext cx="64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320294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52552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84810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417068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449326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481584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3842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46100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78358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10616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642874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675132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707390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739648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771906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804164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8364220" y="1627632"/>
            <a:ext cx="3225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1856232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1865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y planificación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98648" y="1911096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A2676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57200" y="21488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e ingesta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88968" y="2194560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A26769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2423160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2432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catálogo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34128" y="2478024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" y="2715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y motor de precios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56708" y="2761488"/>
            <a:ext cx="157632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2990088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 de demanda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4448" y="3044952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7200" y="3282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analítica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47028" y="3328416"/>
            <a:ext cx="93116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557016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7200" y="35661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conversacional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92188" y="3611880"/>
            <a:ext cx="60858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57200" y="38496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 implantación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69608" y="3895344"/>
            <a:ext cx="125374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4123944"/>
            <a:ext cx="8229600" cy="256032"/>
          </a:xfrm>
          <a:prstGeom prst="rect">
            <a:avLst/>
          </a:prstGeom>
          <a:solidFill>
            <a:srgbClr val="FBF7F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7200" y="4133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 y defensa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37348" y="4178808"/>
            <a:ext cx="931164" cy="155448"/>
          </a:xfrm>
          <a:prstGeom prst="roundRect">
            <a:avLst>
              <a:gd name="adj" fmla="val 29412"/>
            </a:avLst>
          </a:prstGeom>
          <a:solidFill>
            <a:srgbClr val="6D2E4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CONCLUSIÓN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este proyecto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234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1887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real, no simulado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4813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Joyas_ye valida cada incremento. El impacto es verificable: trazabilidad de pedidos, precios sin error manual e información histórica que hoy no existe.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029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Cubre las cuatro competencias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232257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proyectos, modelos de datos, desarrollo de software y pruebas de certificación. El alcance obliga a recorrer el ciclo completo.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16936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91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8712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defendible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1638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módulos comprometidos y tres declarados como trabajo futuro, con la justificación de cada decisión documentada.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58184"/>
            <a:ext cx="310896" cy="3108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" y="37124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con evidencia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40050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pronóstico se evalúa con MAPE, MAE y RMSE contra una línea base. No basta con que el modelo exista: hay que demostrar que aporta.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566160"/>
            <a:ext cx="2743200" cy="2743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74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DealCommerce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Quedamos atentos a sus consultas.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A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Santibáñez Black  ·  Daniel Azócar Pizarro  ·  PTY4614 Capstone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DealCommerce — Definición Proyecto APT</dc:title>
  <dc:subject>PptxGenJS Presentation</dc:subject>
  <dc:creator>Pedro Santibáñez / Daniel Azócar</dc:creator>
  <cp:lastModifiedBy>Pedro Santibáñez / Daniel Azócar</cp:lastModifiedBy>
  <cp:revision>1</cp:revision>
  <dcterms:created xsi:type="dcterms:W3CDTF">2026-08-28T03:22:59Z</dcterms:created>
  <dcterms:modified xsi:type="dcterms:W3CDTF">2026-08-28T03:22:59Z</dcterms:modified>
</cp:coreProperties>
</file>